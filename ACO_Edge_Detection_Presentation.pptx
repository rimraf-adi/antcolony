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00000"/>
                </a:solidFill>
                <a:latin typeface="Arial"/>
              </a:defRPr>
            </a:pPr>
            <a:r>
              <a:t>ACO-Based Edge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6464"/>
                </a:solidFill>
                <a:latin typeface="Arial"/>
              </a:defRPr>
            </a:pPr>
            <a:r>
              <a:t>Ant Colony Optimization for Image Edge Detection</a:t>
            </a:r>
            <a:br/>
            <a:r>
              <a:t>Evaluated on the Berkeley Segmentation Dataset (BSDS300)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474720"/>
            <a:ext cx="45720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384048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23232"/>
                </a:solidFill>
                <a:latin typeface="Arial"/>
              </a:defRPr>
            </a:pPr>
            <a:r>
              <a:t>Mini Project — Image Analysis &amp; Computer Vision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000000"/>
                </a:solidFill>
                <a:latin typeface="Arial"/>
              </a:defRPr>
            </a:pPr>
          </a:p>
          <a:p>
            <a:pPr algn="ctr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Team Members: [Update Names Here]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Guide: [Professor Name]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t>Institution: [College / University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Arial"/>
              </a:defRPr>
            </a:pPr>
            <a:r>
              <a:t>Edge detection is a fundamental operation in image analysis — identifying boundaries where pixel intensity changes sharply.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Challenges with Traditional Methods: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Fixed-kernel methods (Sobel, Canny) cannot adaptively respond to varying edge strengths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Pixel-wise operators produce fragmented, disconnected edge contours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Sensitive to noise without careful parameter tuning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t>Our Approach: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Apply Ant Colony Optimization (ACO) — a swarm intelligence metaheuristic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Artificial ants traverse the pixel grid, depositing pheromone on edge locations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Pheromone accumulates along true edge contours over multiple iterations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Evaluate against human-annotated ground truth from BSDS300 (300 images)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Literature Survey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Arial"/>
              </a:defRPr>
            </a:pPr>
            <a:r>
              <a:t>[1]  Tian, Yu &amp; Xie (2008) — IEEE Congress on Evolutionary Computation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646464"/>
                </a:solidFill>
                <a:latin typeface="Arial"/>
              </a:defRPr>
            </a:pPr>
            <a:r>
              <a:t>    Pioneered ACO for image edge detection. Ants traverse pixel grids using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646464"/>
                </a:solidFill>
                <a:latin typeface="Arial"/>
              </a:defRPr>
            </a:pPr>
            <a:r>
              <a:t>    pheromone and gradient-based heuristics. Competitive with Sobel and Canny.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[2]  Nezamabadi-pour et al. — Ant Colonies for MRF-Based Image Segmentation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646464"/>
                </a:solidFill>
                <a:latin typeface="Arial"/>
              </a:defRPr>
            </a:pPr>
            <a:r>
              <a:t>    Extended ACO to MRF-based segmentation tasks, showing pheromone-guided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646464"/>
                </a:solidFill>
                <a:latin typeface="Arial"/>
              </a:defRPr>
            </a:pPr>
            <a:r>
              <a:t>    traversal captures spatial context beyond local gradient information.</a:t>
            </a:r>
          </a:p>
          <a:p>
            <a:pPr algn="l">
              <a:spcBef>
                <a:spcPts val="400"/>
              </a:spcBef>
              <a:spcAft>
                <a:spcPts val="400"/>
              </a:spcAft>
              <a:defRPr sz="800" b="0">
                <a:solidFill>
                  <a:srgbClr val="000000"/>
                </a:solidFill>
                <a:latin typeface="Arial"/>
              </a:defRPr>
            </a:pPr>
          </a:p>
          <a:p>
            <a:pPr algn="l">
              <a:spcBef>
                <a:spcPts val="400"/>
              </a:spcBef>
              <a:spcAft>
                <a:spcPts val="40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t>[3]  IJETT V71I9P233 — Edge Detection Using Ant Colony Optimization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646464"/>
                </a:solidFill>
                <a:latin typeface="Arial"/>
              </a:defRPr>
            </a:pPr>
            <a:r>
              <a:t>    Comprehensive survey comparing ACO with classical methods. Analyzes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646464"/>
                </a:solidFill>
                <a:latin typeface="Arial"/>
              </a:defRPr>
            </a:pPr>
            <a:r>
              <a:t>    parameter sensitivity (α, β, ρ). ACO produces smoother, more connected edges.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Biological Inspiration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Real Ant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Ants deposit pheromone on paths while foraging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Shorter, better paths accumulate more pheromone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Other ants prefer pheromone-rich paths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Old pheromone evaporates over time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Collective behavior → emergent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Our Analogy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Image pixels = graph nodes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8-connected neighbors = possible moves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Gradient magnitude = heuristic desirability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Pheromone matrix = collective edge memory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400">
                <a:solidFill>
                  <a:srgbClr val="000000"/>
                </a:solidFill>
                <a:latin typeface="Arial"/>
              </a:defRPr>
            </a:pPr>
            <a:r>
              <a:t>• Edge contours emerge from pheromone accumulation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371600"/>
            <a:ext cx="12700" cy="4114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Mathematical Formulation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Transition Probability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Arial"/>
              </a:defRPr>
            </a:pPr>
            <a:r>
              <a:t>Each ant at pixel (i,j) chooses its next position from the 8-connected neighborhood: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468880"/>
            <a:ext cx="82296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0000"/>
                </a:solidFill>
                <a:latin typeface="Courier New"/>
              </a:defRPr>
            </a:pPr>
            <a:r>
              <a:t>P(i,j)  =  [ τ(i,j)^α  ·  η(i,j)^β ]  /  Σ  [ τ(m,n)^α  ·  η(m,n)^β 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Pheromone Update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4023360"/>
            <a:ext cx="82296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000000"/>
                </a:solidFill>
                <a:latin typeface="Courier New"/>
              </a:defRPr>
            </a:pPr>
            <a:r>
              <a:t>τ(i,j)  ←  (1 − ρ) · τ(i,j)  +  Δτ(i,j)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292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Arial"/>
              </a:defRPr>
            </a:pPr>
            <a:r>
              <a:t>Where: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646464"/>
                </a:solidFill>
                <a:latin typeface="Arial"/>
              </a:defRPr>
            </a:pPr>
            <a:r>
              <a:t>τ(i,j) = pheromone at pixel (i,j)     η(i,j) = heuristic value (Sobel gradient magnitude)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646464"/>
                </a:solidFill>
                <a:latin typeface="Arial"/>
              </a:defRPr>
            </a:pPr>
            <a:r>
              <a:t>α = pheromone influence weight          β = heuristic influence weight          ρ = evaporation 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System Architecture &amp;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1554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Step 1</a:t>
            </a:r>
          </a:p>
          <a:p>
            <a:pPr algn="ctr">
              <a:defRPr sz="1000">
                <a:solidFill>
                  <a:srgbClr val="646464"/>
                </a:solidFill>
                <a:latin typeface="Arial"/>
              </a:defRPr>
            </a:pPr>
            <a:r>
              <a:t>Input Image</a:t>
            </a:r>
            <a:br/>
            <a:r>
              <a:t>(Grayscale)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920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645920"/>
            <a:ext cx="1554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Step 2</a:t>
            </a:r>
          </a:p>
          <a:p>
            <a:pPr algn="ctr">
              <a:defRPr sz="1000">
                <a:solidFill>
                  <a:srgbClr val="646464"/>
                </a:solidFill>
                <a:latin typeface="Arial"/>
              </a:defRPr>
            </a:pPr>
            <a:r>
              <a:t>Sobel Gradient</a:t>
            </a:r>
            <a:br/>
            <a:r>
              <a:t>η(i,j)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40" y="1920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45920"/>
            <a:ext cx="1554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Step 3</a:t>
            </a:r>
          </a:p>
          <a:p>
            <a:pPr algn="ctr">
              <a:defRPr sz="1000">
                <a:solidFill>
                  <a:srgbClr val="646464"/>
                </a:solidFill>
                <a:latin typeface="Arial"/>
              </a:defRPr>
            </a:pPr>
            <a:r>
              <a:t>Init Pheromone</a:t>
            </a:r>
            <a:br/>
            <a:r>
              <a:t>τ(i,j) = 0.1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920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1554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Step 4</a:t>
            </a:r>
          </a:p>
          <a:p>
            <a:pPr algn="ctr">
              <a:defRPr sz="1000">
                <a:solidFill>
                  <a:srgbClr val="646464"/>
                </a:solidFill>
                <a:latin typeface="Arial"/>
              </a:defRPr>
            </a:pPr>
            <a:r>
              <a:t>Ant Traversal</a:t>
            </a:r>
            <a:br/>
            <a:r>
              <a:t>K ants, S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80" y="1920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1554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Step 5</a:t>
            </a:r>
          </a:p>
          <a:p>
            <a:pPr algn="ctr">
              <a:defRPr sz="1000">
                <a:solidFill>
                  <a:srgbClr val="646464"/>
                </a:solidFill>
                <a:latin typeface="Arial"/>
              </a:defRPr>
            </a:pPr>
            <a:r>
              <a:t>Pheromone</a:t>
            </a:r>
            <a:br/>
            <a:r>
              <a:t>Update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920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921240" y="1645920"/>
            <a:ext cx="15544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0000"/>
                </a:solidFill>
                <a:latin typeface="Arial"/>
              </a:defRPr>
            </a:pPr>
            <a:r>
              <a:t>Step 6</a:t>
            </a:r>
          </a:p>
          <a:p>
            <a:pPr algn="ctr">
              <a:defRPr sz="1000">
                <a:solidFill>
                  <a:srgbClr val="646464"/>
                </a:solidFill>
                <a:latin typeface="Arial"/>
              </a:defRPr>
            </a:pPr>
            <a:r>
              <a:t>Edge Map</a:t>
            </a:r>
            <a:br/>
            <a:r>
              <a:t>[0, 255]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Software Stack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Python ≥ 3.13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NumPy ≥ 2.4 — array operations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OpenCV ≥ 4.13 — image I/O, Sobel, Canny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tqdm — progress bars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uv — package 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Arial"/>
              </a:defRPr>
            </a:pPr>
            <a:r>
              <a:t>Code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main.py — AntColonyEdgeDetector class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process_images.py — Batch pipeline + CLI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Core Algorithm —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4846320"/>
          </a:xfrm>
          <a:prstGeom prst="round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700"/>
              </a:lnSpc>
              <a:defRPr sz="1200">
                <a:solidFill>
                  <a:srgbClr val="000000"/>
                </a:solidFill>
                <a:latin typeface="Courier New"/>
              </a:defRPr>
            </a:pPr>
            <a:r>
              <a:t>class AntColonyEdgeDetector:</a:t>
            </a:r>
            <a:br/>
            <a:r>
              <a:t>    def run_detection(self):</a:t>
            </a:r>
            <a:br/>
            <a:r>
              <a:t>        self._initialize_matrices()       # Sobel gradient + pheromone init</a:t>
            </a:r>
            <a:br/>
            <a:br/>
            <a:r>
              <a:t>        for iteration in range(self.num_iterations):</a:t>
            </a:r>
            <a:br/>
            <a:r>
              <a:t>            # Place K ants at random pixel positions</a:t>
            </a:r>
            <a:br/>
            <a:r>
              <a:t>            ant_rows = np.random.randint(0, H, self.num_ants)</a:t>
            </a:r>
            <a:br/>
            <a:r>
              <a:t>            ant_cols = np.random.randint(0, W, self.num_ants)</a:t>
            </a:r>
            <a:br/>
            <a:br/>
            <a:r>
              <a:t>            for step in range(steps_per_ant):</a:t>
            </a:r>
            <a:br/>
            <a:r>
              <a:t>                for ant in range(self.num_ants):</a:t>
            </a:r>
            <a:br/>
            <a:r>
              <a:t>                    # Transition probability: P = τ^α · η^β</a:t>
            </a:r>
            <a:br/>
            <a:r>
              <a:t>                    # Choose next pixel from 8-connected neighbors</a:t>
            </a:r>
            <a:br/>
            <a:r>
              <a:t>                    # Deposit pheromone proportional to gradient</a:t>
            </a:r>
            <a:br/>
            <a:br/>
            <a:r>
              <a:t>            # Global pheromone update with evaporation</a:t>
            </a:r>
            <a:br/>
            <a:r>
              <a:t>            τ = (1 - ρ) * τ + Δτ</a:t>
            </a:r>
            <a:br/>
            <a:br/>
            <a:r>
              <a:t>        # Normalize pheromone matrix → edge map [0, 255]</a:t>
            </a:r>
            <a:br/>
            <a:r>
              <a:t>        # Dilate edges with 3×3 kernel for visibility</a:t>
            </a:r>
            <a:br/>
            <a:r>
              <a:t>        return dilated_edge_map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Dataset — BSDS300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464"/>
                </a:solidFill>
                <a:latin typeface="Arial"/>
              </a:defRPr>
            </a:pPr>
            <a:r>
              <a:t>Berkeley Segmentation Dataset — 300 natural images with human-annotated ground truth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2103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300</a:t>
            </a:r>
          </a:p>
          <a:p>
            <a:pPr algn="ctr">
              <a:defRPr sz="1200">
                <a:solidFill>
                  <a:srgbClr val="646464"/>
                </a:solidFill>
              </a:defRPr>
            </a:pPr>
            <a:r>
              <a:t>Natural Images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103120"/>
            <a:ext cx="2103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200</a:t>
            </a:r>
          </a:p>
          <a:p>
            <a:pPr algn="ctr">
              <a:defRPr sz="1200">
                <a:solidFill>
                  <a:srgbClr val="646464"/>
                </a:solidFill>
              </a:defRPr>
            </a:pPr>
            <a:r>
              <a:t>Training 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2103120"/>
            <a:ext cx="2103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100</a:t>
            </a:r>
          </a:p>
          <a:p>
            <a:pPr algn="ctr">
              <a:defRPr sz="1200">
                <a:solidFill>
                  <a:srgbClr val="646464"/>
                </a:solidFill>
              </a:defRPr>
            </a:pPr>
            <a:r>
              <a:t>Test 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2103120"/>
            <a:ext cx="210312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00000"/>
                </a:solidFill>
              </a:defRPr>
            </a:pPr>
            <a:r>
              <a:t>5–7</a:t>
            </a:r>
          </a:p>
          <a:p>
            <a:pPr algn="ctr">
              <a:defRPr sz="1200">
                <a:solidFill>
                  <a:srgbClr val="646464"/>
                </a:solidFill>
              </a:defRPr>
            </a:pPr>
            <a:r>
              <a:t>Annotators /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/>
              </a:defRPr>
            </a:pPr>
            <a:r>
              <a:t>Dataset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Diverse scenes: animals, landscapes, people, objects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Multiple independent human segmentations per image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Standard benchmark in edge detection literature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66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Arial"/>
              </a:defRPr>
            </a:pPr>
            <a:r>
              <a:t>Our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233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All images converted to grayscale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.seg files parsed → binary edge maps via Sobel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3-panel dashboard visualization generated per image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Hyperparameters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Symbol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Batch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Courier New"/>
                        </a:defRPr>
                      </a:pPr>
                      <a:r>
                        <a:t>num_ants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2,048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8,192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Ants per iteration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Courier New"/>
                        </a:defRPr>
                      </a:pPr>
                      <a:r>
                        <a:t>num_iterations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ACO iterations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Courier New"/>
                        </a:defRPr>
                      </a:pPr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Pheromone influence weight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Courier New"/>
                        </a:defRPr>
                      </a:pPr>
                      <a:r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Heuristic (gradient) influence weight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Courier New"/>
                        </a:defRPr>
                      </a:pPr>
                      <a:r>
                        <a:t>decay_rate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Pheromone evaporation rate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Courier New"/>
                        </a:defRPr>
                      </a:pPr>
                      <a:r>
                        <a:t>steps_per_ant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Steps each ant takes per iteration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Arial"/>
              </a:defRPr>
            </a:pPr>
            <a:r>
              <a:t>Key insight: β &gt; α favors gradient-guided exploration, producing edges aligned with true intensity transitions. Batch processing uses 8192 ants and 50 iterations for production-quality edge maps.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Results — Sample Outputs (Set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6464"/>
                </a:solidFill>
                <a:latin typeface="Arial"/>
              </a:defRPr>
            </a:pPr>
            <a:r>
              <a:t>Each dashboard:  Original  →  Human Ground Truth  →  ACO Edge Map</a:t>
            </a:r>
          </a:p>
        </p:txBody>
      </p:sp>
      <p:pic>
        <p:nvPicPr>
          <p:cNvPr id="5" name="Picture 4" descr="sample_b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10515600" cy="230725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931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464"/>
                </a:solidFill>
                <a:latin typeface="Arial"/>
              </a:defRPr>
            </a:pPr>
            <a:r>
              <a:t>BSDS300 #100075 — Bears at water's edge</a:t>
            </a:r>
          </a:p>
        </p:txBody>
      </p:sp>
      <p:pic>
        <p:nvPicPr>
          <p:cNvPr id="7" name="Picture 6" descr="sample_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389120"/>
            <a:ext cx="10515600" cy="23072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464"/>
                </a:solidFill>
                <a:latin typeface="Arial"/>
              </a:defRPr>
            </a:pPr>
            <a:r>
              <a:t>BSDS300 #3096 — Military aircraft in flight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Results — Sample Outputs (Set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mpl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515600" cy="230725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657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464"/>
                </a:solidFill>
                <a:latin typeface="Arial"/>
              </a:defRPr>
            </a:pPr>
            <a:r>
              <a:t>BSDS300 #42049 — Bird on branch</a:t>
            </a:r>
          </a:p>
        </p:txBody>
      </p:sp>
      <p:pic>
        <p:nvPicPr>
          <p:cNvPr id="6" name="Picture 5" descr="sample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14800"/>
            <a:ext cx="10515600" cy="23072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309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6464"/>
                </a:solidFill>
                <a:latin typeface="Arial"/>
              </a:defRPr>
            </a:pPr>
            <a:r>
              <a:t>BSDS300 #135069 — Eagles in flight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Strengths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Adaptive: pheromone reinforcement concentrates on true edges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Connected edges: ant traversal produces continuous contours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Noise tolerance: collective behavior averages out noise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Flexible: tunable via α, β, ρ, ant count parameters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No training required: pure optimization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371600"/>
            <a:ext cx="12700" cy="457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Computational cost: per-ant, per-step loops are expensive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Parameter sensitivity: poor α/β ratios produce weak edges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Thinner edges: ACO edges sparser than ground truth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No multi-scale: single-resolution Sobel heuristic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Sequential bottleneck: hard to parallelize on CPU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ACO vs. Traditional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46304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52251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Sobel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Canny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ACO (Ours)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Fixed 3×3 kernels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Multi-stage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Swarm intelligence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Adaptivity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Threshold-based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Pheromone-guided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Edge Continuity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Low (pixel-wise)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Medium (hysteresis)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High (ant paths)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Noise Handling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Good (Gaussian blur)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Good (collective avg.)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Very 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Slow (iterative)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Kernel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2 thresholds + 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α, β, ρ, K, T, 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486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6464"/>
                </a:solidFill>
                <a:latin typeface="Arial"/>
              </a:defRPr>
            </a:pPr>
            <a:r>
              <a:t>Key takeaway: ACO trades computational speed for adaptivity and edge continuity. Best suited for applications where edge quality matters more than real-time performance.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Successfully implemented ACO edge detection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Evaluated on all 300 BSDS300 images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Produces coherent, continuous edge contours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Fully unsupervised — no training or labels required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Dashboard visualizations enable direct comparison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  with human ground truth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371600"/>
            <a:ext cx="12700" cy="45720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Arial"/>
              </a:defRPr>
            </a:pPr>
            <a:r>
              <a:t>Future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0000"/>
                </a:solidFill>
                <a:latin typeface="Arial"/>
              </a:defRPr>
            </a:pP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GPU acceleration via CUDA/OpenCL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Multi-scale heuristics using Gaussian pyramids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Hybrid ACO + Canny for thin, precise edges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Quantitative metrics: F1, ODS, OIS scores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• Adaptive parameter tuning via PSO or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000000"/>
                </a:solidFill>
                <a:latin typeface="Arial"/>
              </a:defRPr>
            </a:pPr>
            <a:r>
              <a:t>  genetic algorithms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0000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36576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</a:defRPr>
            </a:pPr>
            <a:r>
              <a:t>[1]  Tian, J., Yu, W., &amp; Xie, S. (2008). "An Ant Colony Optimization Algorithm for Image Edge Detection." IEEE Congress on Evolutionary Computation, pp. 751–756.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[2]  Nezamabadi-pour, H., et al. "Ant Colonies for MRF-Based Image Segmentation." Journal of Applied Sciences.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[3]  "Edge Detection Using Ant Colony Optimization." International Journal of Engineering Trends and Technology (IJETT), V71I9P233.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[4]  Martin, D., Fowlkes, C., Tal, D., &amp; Malik, J. (2001). "A Database of Human Segmented Natural Images." ICCV.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[5]  Dorigo, M. &amp; Stützle, T. (2004). Ant Colony Optimization. MIT Press.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200" b="0">
                <a:solidFill>
                  <a:srgbClr val="000000"/>
                </a:solidFill>
                <a:latin typeface="Arial"/>
              </a:defRPr>
            </a:pPr>
            <a:r>
              <a:t>[6]  Canny, J. (1986). "A Computational Approach to Edge Detection." IEEE TPAMI, 8(6), pp. 679–698.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0000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6464"/>
                </a:solidFill>
                <a:latin typeface="Arial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